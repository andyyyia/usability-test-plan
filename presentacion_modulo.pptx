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82880" cy="18288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20" y="6309360"/>
            <a:ext cx="182880" cy="18288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57200"/>
            <a:ext cx="182880" cy="18288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 HUMANO-COMPUTADORA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 Plan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de Principios IHC: ISO 9241-11, WCAG 2.1 y Diseno Centrado en el Usuario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41448" y="3749040"/>
            <a:ext cx="7315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Chachalo  |  Universidad  |  Junio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- 2026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 del sistema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ISO 9241-11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WCAG 2.1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Centrado en el 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Heuristica (Nielsen)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097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- 3 niveles de fidelidad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y Sprint Backlog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743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2743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de mejora UX/UI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3566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con usuarios y resultados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640080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diapositivas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Usability Test Plan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5836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para gestionar el ciclo completo de pruebas de usabilidad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Analiticas y metricas en tiempo real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1645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 — Definir parametros del test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4015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y Guion — Script del moderador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087368"/>
            <a:ext cx="164592" cy="1645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— Registro en tiempo real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773168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63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— Sintesis y recomendaciones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440680"/>
            <a:ext cx="61264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4406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TailwindCSS + Supabase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1005840"/>
            <a:ext cx="4754880" cy="512064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223760" y="2926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CAPTURA DEL SISTEMA 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474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graficas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ISO 9241-11 — Usabilidad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474720" cy="384048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3474720" cy="50292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con criterios claros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exito: 80-100%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 modal antes de acciones destructivas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1280160"/>
            <a:ext cx="3474720" cy="384048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80160"/>
            <a:ext cx="34747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edicion/vista reduce pasos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de 5 pasos guia el flujo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inteligente (upsert)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280160"/>
            <a:ext cx="3474720" cy="3840480"/>
          </a:xfrm>
          <a:prstGeom prst="rect">
            <a:avLst/>
          </a:prstGeom>
          <a:solidFill>
            <a:srgbClr val="FEF9C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280160"/>
            <a:ext cx="34747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1920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Score: 78.5/100 — "Bueno"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956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 con persistencia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0956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Microinteracciones con Motion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440680"/>
            <a:ext cx="1143000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4406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uso: investigadores UX  ·  disenadores de interaccion  ·  estudiantes de IHC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WCAG 2.1 — Nivel AA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POUR implementados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D5A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73152" cy="201168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PERCEPTIBLE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&gt;= 4.5:1 verificado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60604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en todos los iconos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06324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escalable (rem units)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5303520" cy="201168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45920"/>
            <a:ext cx="7315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OPERABLE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9632" y="214884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Navegacion completa por teclado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260604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trap en modales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306324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visible en todos los elementos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303520" cy="2011680"/>
          </a:xfrm>
          <a:prstGeom prst="rect">
            <a:avLst/>
          </a:prstGeom>
          <a:solidFill>
            <a:srgbClr val="FEF9C3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40480"/>
            <a:ext cx="73152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COMPRENSIBLE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" y="43434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descriptivos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8006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en todos los inputs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52578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 antes de destruir datos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840480"/>
            <a:ext cx="5303520" cy="2011680"/>
          </a:xfrm>
          <a:prstGeom prst="rect">
            <a:avLst/>
          </a:prstGeom>
          <a:solidFill>
            <a:srgbClr val="FCE7F3"/>
          </a:solidFill>
          <a:ln w="25400">
            <a:solidFill>
              <a:srgbClr val="9D17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840480"/>
            <a:ext cx="73152" cy="20116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ROBUSTO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99632" y="43434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semantico (table, thead, th)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48006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 y roles correctos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52578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lectores de pantalla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criterios WCAG 2.1 AA verificados y documentados en la Guia de Diseno del sistema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Centrado en el Usuario — Proceso DCU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600200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3 usuarios objetivo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 5 flujos de trabajo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de uso definidos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51760" cy="41148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600200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461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834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niveles de fidelidad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3474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(wireframes)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(alta fidelidad)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651760" cy="4114800"/>
          </a:xfrm>
          <a:prstGeom prst="rect">
            <a:avLst/>
          </a:prstGeom>
          <a:solidFill>
            <a:srgbClr val="1E5A3F"/>
          </a:solidFill>
          <a:ln w="12700">
            <a:solidFill>
              <a:srgbClr val="1E5A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1600200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2834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3474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 (accesible)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CSS + modo oscuro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1463040"/>
            <a:ext cx="2651760" cy="41148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29800" y="160020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91540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2834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Heuristicas de Nielsen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15400" y="3474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5 usuarios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1540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 continua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76072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59536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iterativo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Heuristica — Nielsen (18 Hallazgos)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por Severidad: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937760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63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5257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577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3840480"/>
            <a:ext cx="640080" cy="13716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5257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5577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926080"/>
            <a:ext cx="640080" cy="2286000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5257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5577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4663440"/>
            <a:ext cx="6400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389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5257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5577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108960"/>
                <a:gridCol w="192024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Visibilidad del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H7: Flexibilidad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H10: Ayuda y documentacion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H3: Control y libertad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Prueba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Fortalezas: H4 Consistencia OK  ·  H5 Prevencion de errores OK  ·  H8 Diseno minimalista OK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Progresivo — 3 Niveles de Fidelidad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566160" cy="50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356616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Fidelidad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estructurales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Jerarquia de contenido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navegacion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5661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color ni estilo visual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3383280" cy="1828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65760" y="484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WIREFRAME BAJA FIDELIDAD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1188720"/>
            <a:ext cx="356616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188720"/>
            <a:ext cx="3566160" cy="4572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Fidelidad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51960" y="21945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y estructura reales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6517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interaccion basicos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31089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UI reconocibles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35661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paleta de colores final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4160520"/>
            <a:ext cx="3383280" cy="1828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206240" y="484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WIREFRAME MEDIA FIDELIDAD 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0" y="1188720"/>
            <a:ext cx="356616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1188720"/>
            <a:ext cx="35661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Fidelidad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92440" y="21945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 React completa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26517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diseno con tokens CSS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92440" y="31089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y oscuro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2440" y="3566160"/>
            <a:ext cx="3291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 Supabase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4160520"/>
            <a:ext cx="3383280" cy="1828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046720" y="484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CAPTURA ALTA FIDELIDAD 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Implementado — Alta Fidelidad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94960" cy="246888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con graficas de barras y dona 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394960" cy="246888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17920" y="21031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Modulo Plan de Prueba — formulario completo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5394960" cy="246888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Modulo Observaciones — tabla expandible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840480"/>
            <a:ext cx="5394960" cy="2468880"/>
          </a:xfrm>
          <a:prstGeom prst="rect">
            <a:avLst/>
          </a:prstGeom>
          <a:solidFill>
            <a:srgbClr val="FFF9C4"/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17920" y="47548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Modulo Hallazgos — badges de severidad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y oscuro  ·  Microinteracciones  ·  Responsive Design  ·  Accesible WCAG AA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— Sprint Backlog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Sprints  ·  20 tareas  ·  138 horas estimadas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657600" cy="4846320"/>
          </a:xfrm>
          <a:prstGeom prst="rect">
            <a:avLst/>
          </a:prstGeom>
          <a:solidFill>
            <a:srgbClr val="F8FAFC"/>
          </a:solidFill>
          <a:ln w="25400">
            <a:solidFill>
              <a:srgbClr val="2D5A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3657600" cy="50292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Infraestructura (38h)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React + TypeScript +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Tokens CSS y tema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7413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Layout + Sidebar + Router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3250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Supabase + esquema BD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908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ProjectContext CRUD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463040"/>
            <a:ext cx="3657600" cy="48463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463040"/>
            <a:ext cx="36576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Modulos (64h)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2057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Plan de Prueba completo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27157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Tareas y Guion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337413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Observaciones + paginacion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403250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Hallazgos + badges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46908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Dashboard (Recharts)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5349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Modo oscuro + localStorage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2440" y="1463040"/>
            <a:ext cx="3657600" cy="4846320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1463040"/>
            <a:ext cx="36576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UX/Accesibilidad (36h)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2057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WCAG 2.1 AA (10 criterios)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27157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Microinteracciones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337413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Guia de Diseno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03250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(done) Validacion + mensajes error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6908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(pending) Skeleton loaders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5349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(pending) Panel de ayuda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Propuestas de Mejora UX/UI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657600" cy="5029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36576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PRIORIDAD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Panel de ayuda contextual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+ panel lateral deslizable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Exportacion CSV / PNG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resultados con clientes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Skeleton loaders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572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percepcion de carga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1188720"/>
            <a:ext cx="3657600" cy="50292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188720"/>
            <a:ext cx="36576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PRIORIDAD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5196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Scroll a campo con error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5196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automatico al validar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SeverityBadge unificado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compartido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Indicador expandible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4572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Chevron animado en filas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1188720"/>
            <a:ext cx="365760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188720"/>
            <a:ext cx="36576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PRIORIDAD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9244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— Onboarding tour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9244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primer uso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— Atajos de teclado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92440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documentados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572000"/>
            <a:ext cx="3474720" cy="1463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046720" y="5120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Mockup M1 ]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con Usuarios — Think-Aloud Protocol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5486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participantes (perfil: estudiantes IHC 4to-5to semestre)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5486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individuales de 30 minutos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5486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 de pantalla con consentimiento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5486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think-aloud moderado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Prom.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T1: Crear 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45s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T2: Completar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12m 30s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T3: Registrar obs.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9m 15s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T4: Ver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 00s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17373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</a:t>
            </a:r>
            <a:endParaRPr lang="en-US" sz="7200" dirty="0"/>
          </a:p>
        </p:txBody>
      </p:sp>
      <p:sp>
        <p:nvSpPr>
          <p:cNvPr id="14" name="Text 11"/>
          <p:cNvSpPr/>
          <p:nvPr/>
        </p:nvSpPr>
        <p:spPr>
          <a:xfrm>
            <a:off x="10332720" y="22860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0" y="3063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Clasificacion: BUENO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68+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4114800"/>
            <a:ext cx="5303520" cy="1828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Grafico SUS por participante 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en GitHub — Commits Organizados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00" cy="5029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Historial de commits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estructura base del proyecto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configuracion Supabase + schema BD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modulo plan-de-prueba completo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79776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modulo observaciones + paginacion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modulo hallazgos + badges severidad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dashboard con Recharts integrado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modo oscuro con persistencia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169664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accesibilidad WCAG 2.1 AA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517136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mejorar UI tablas y combo box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864608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informe tecnico IEEE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evaluacion heuristica completa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5559552"/>
            <a:ext cx="6035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historias de usuario y backlog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1188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 Conventional Commits: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0" y="1737360"/>
            <a:ext cx="47548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737360"/>
            <a:ext cx="54864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feat:</a:t>
            </a:r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nueva funcionalidad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2377440"/>
            <a:ext cx="47548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2377440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2423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correccion de bug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3017520"/>
            <a:ext cx="4754880" cy="502920"/>
          </a:xfrm>
          <a:prstGeom prst="rect">
            <a:avLst/>
          </a:prstGeom>
          <a:solidFill>
            <a:srgbClr val="F3E8FF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3017520"/>
            <a:ext cx="54864" cy="5029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063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</a:t>
            </a:r>
            <a:pPr indent="0" marL="0">
              <a:buNone/>
            </a:pPr>
            <a:r>
              <a:rPr lang="en-US" sz="12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documentacion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0" y="3657600"/>
            <a:ext cx="4754880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3657600"/>
            <a:ext cx="54864" cy="5029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formato visual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32320" y="4572000"/>
            <a:ext cx="4846320" cy="1463040"/>
          </a:xfrm>
          <a:prstGeom prst="rect">
            <a:avLst/>
          </a:prstGeom>
          <a:solidFill>
            <a:srgbClr val="FFF9C4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13232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Captura GitHub historial 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Score: 78.5 / 100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Clasificacion: BUENO  ·  Percentil 68+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303520" cy="1554480"/>
          </a:xfrm>
          <a:prstGeom prst="rect">
            <a:avLst/>
          </a:prstGeom>
          <a:solidFill>
            <a:srgbClr val="2D5A9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457200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3774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criterios WCAG 2.1 AA implementados y verificados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303520" cy="1554480"/>
          </a:xfrm>
          <a:prstGeom prst="rect">
            <a:avLst/>
          </a:prstGeom>
          <a:solidFill>
            <a:srgbClr val="2D5A9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286000"/>
            <a:ext cx="457200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76288" y="23774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hallazgos heuristicos documentados con severidad y propuesta de mejora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303520" cy="1554480"/>
          </a:xfrm>
          <a:prstGeom prst="rect">
            <a:avLst/>
          </a:prstGeom>
          <a:solidFill>
            <a:srgbClr val="2D5A9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23360"/>
            <a:ext cx="457200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41148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diseno coherente: tokens CSS, modo oscuro, microinteracciones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303520" cy="1554480"/>
          </a:xfrm>
          <a:prstGeom prst="rect">
            <a:avLst/>
          </a:prstGeom>
          <a:solidFill>
            <a:srgbClr val="2D5A9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023360"/>
            <a:ext cx="457200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76288" y="41148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DCU completo: investigacion - prototipo - implementacion - evaluacion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sistema es en si mismo un referente de las practicas que ayuda a evaluar"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109728" cy="59436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y Cierre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ISO 9241-11:2018 — Ergonomics of Human-System Interaction. Usability: Definitions and Concepts.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Nielsen, J. &amp; Molich, R. (1990). Heuristic evaluation of user interfaces. ACM CHI '90, pp. 249-256.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ISO 9241-210:2019 — Human-Centred Design for Interactive Systems.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W3C WAI. Web Content Accessibility Guidelines (WCAG) 2.1, 2018.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Norman, D. A. (2013). The Design of Everyday Things. Basic Books.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Nielsen, J. (1994). 10 Usability Heuristics. Nielsen Norman Group.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Brooke, J. (1996). SUS: A quick and dirty usability scale. Taylor &amp; Francis.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539496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Krug, S. (2014). Don't Make Me Think, Revisited. New Riders.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1188720"/>
            <a:ext cx="4389120" cy="3200400"/>
          </a:xfrm>
          <a:prstGeom prst="rect">
            <a:avLst/>
          </a:prstGeom>
          <a:solidFill>
            <a:srgbClr val="2D5A9E"/>
          </a:solidFill>
          <a:ln w="12700">
            <a:solidFill>
              <a:srgbClr val="2D5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286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Preguntas?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89520" y="4663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Chachalo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5074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 Humano-Computadora — Junio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5577840"/>
            <a:ext cx="4389120" cy="640080"/>
          </a:xfrm>
          <a:prstGeom prst="rect">
            <a:avLst/>
          </a:prstGeom>
          <a:solidFill>
            <a:srgbClr val="FFF9C4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589520" y="5577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URL del repositorio GitHub 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2026-06-02T06:21:50Z</dcterms:created>
  <dcterms:modified xsi:type="dcterms:W3CDTF">2026-06-02T06:21:50Z</dcterms:modified>
</cp:coreProperties>
</file>